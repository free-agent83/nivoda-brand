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youthful-albattani/mnt/brand-system/assets/logos/wordmark-whit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65760"/>
            <a:ext cx="1508760" cy="24897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173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PRESENTATION TITLE</a:t>
            </a:r>
            <a:endParaRPr lang="en-US" sz="850" dirty="0"/>
          </a:p>
        </p:txBody>
      </p:sp>
      <p:sp>
        <p:nvSpPr>
          <p:cNvPr id="4" name="Shape 1"/>
          <p:cNvSpPr/>
          <p:nvPr/>
        </p:nvSpPr>
        <p:spPr>
          <a:xfrm>
            <a:off x="502920" y="1618488"/>
            <a:ext cx="914400" cy="10973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755648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The global marketplace for diamonds and </a:t>
            </a:r>
            <a:pPr indent="0" marL="0">
              <a:lnSpc>
                <a:spcPct val="115000"/>
              </a:lnSpc>
              <a:buNone/>
            </a:pPr>
            <a:r>
              <a:rPr lang="en-US" sz="3800" i="1" dirty="0">
                <a:solidFill>
                  <a:srgbClr val="7655F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jewellery.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Subtitle or presenter name · Month Year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0" y="47731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00" kern="0" dirty="0">
                <a:solidFill>
                  <a:srgbClr val="4440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NIVODA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sessions/sleepy-youthful-albattani/mnt/brand-system/assets/logos/wordmark-blac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365760"/>
            <a:ext cx="1508760" cy="2489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4173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PRESENTATION TITLE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502920" y="1618488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1755648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Building the future of diamond </a:t>
            </a:r>
            <a:pPr indent="0" marL="0">
              <a:lnSpc>
                <a:spcPct val="115000"/>
              </a:lnSpc>
              <a:buNone/>
            </a:pPr>
            <a:r>
              <a:rPr lang="en-US" sz="38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trade.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0292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Subtitle or presenter name · Month Year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246202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 / Image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182880"/>
            <a:ext cx="3840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0" dirty="0">
                <a:solidFill>
                  <a:srgbClr val="2925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502920" y="16459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SECTION NAME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02920" y="1847088"/>
            <a:ext cx="914400" cy="10973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0116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This section covers </a:t>
            </a:r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7655F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key ideas.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sentence describing what this section covers.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A single idea, stated with </a:t>
            </a:r>
            <a:pPr algn="ctr" indent="0" marL="0">
              <a:lnSpc>
                <a:spcPct val="110000"/>
              </a:lnSpc>
              <a:buNone/>
            </a:pPr>
            <a:r>
              <a:rPr lang="en-US" sz="5200" i="1" dirty="0">
                <a:solidFill>
                  <a:srgbClr val="7655F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conviction.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02920" y="443484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7534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or context · Year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704088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86868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A heading that frames </a:t>
            </a:r>
            <a:pPr indent="0" marL="0">
              <a:lnSpc>
                <a:spcPct val="115000"/>
              </a:lnSpc>
              <a:buNone/>
            </a:pPr>
            <a:r>
              <a:rPr lang="en-US" sz="30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context.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3977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text at presentation scale. Inter, 15pt, stone-600. Explain the idea in two or three clear sentences. Let the image carry the emotion.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434340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Supporting detail or source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880" y="0"/>
            <a:ext cx="3886200" cy="5143500"/>
          </a:xfrm>
          <a:prstGeom prst="rect">
            <a:avLst/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46202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 / Image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86200" cy="5143500"/>
          </a:xfrm>
          <a:prstGeom prst="rect">
            <a:avLst/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202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 / Image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754880" y="5029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754880" y="704088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868680"/>
            <a:ext cx="3886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The story </a:t>
            </a:r>
            <a:pPr indent="0" marL="0">
              <a:lnSpc>
                <a:spcPct val="115000"/>
              </a:lnSpc>
              <a:buNone/>
            </a:pPr>
            <a:r>
              <a:rPr lang="en-US" sz="30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behind the image.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754880" y="2286000"/>
            <a:ext cx="3886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text at presentation scale. Use this layout when the image anchors the narrative on the left and the argument builds on the right.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43434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Supporting detail or source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585216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4980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A narrative slide for extended argument or 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lede paragraph — Inter, 16pt, stone-600, line-height 1.5. It opens the section with the key idea before the body text develops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8138160" cy="9144"/>
          </a:xfrm>
          <a:prstGeom prst="rect">
            <a:avLst/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487168"/>
            <a:ext cx="3703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 column body text. Use this for extended narrative copy, supporting argument, or key context. Inter, 14pt, stone-600. Two or three short paragraphs work well here.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3440" y="2487168"/>
            <a:ext cx="3703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3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column body text. A second supporting point or elaboration. Keep each column to a single idea — if it needs more, split across slides.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BY THE NUMBERS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658368"/>
            <a:ext cx="914400" cy="10973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The scale of </a:t>
            </a:r>
            <a:pPr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7655F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the platform.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2578608" cy="2331720"/>
          </a:xfrm>
          <a:prstGeom prst="rect">
            <a:avLst/>
          </a:prstGeom>
          <a:solidFill>
            <a:srgbClr val="1C1917"/>
          </a:solidFill>
          <a:ln w="6350">
            <a:solidFill>
              <a:srgbClr val="4440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2578608" cy="22860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24K+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77240" y="34015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A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buyers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767328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100+ countries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74136" y="2103120"/>
            <a:ext cx="2578608" cy="2331720"/>
          </a:xfrm>
          <a:prstGeom prst="rect">
            <a:avLst/>
          </a:prstGeom>
          <a:solidFill>
            <a:srgbClr val="1C1917"/>
          </a:solidFill>
          <a:ln w="6350">
            <a:solidFill>
              <a:srgbClr val="4440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2103120"/>
            <a:ext cx="2578608" cy="22860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8456" y="242316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$2.8B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3648456" y="34015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A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GMV (annualised)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48456" y="3767328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growing 40% YoY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45352" y="2103120"/>
            <a:ext cx="2578608" cy="2331720"/>
          </a:xfrm>
          <a:prstGeom prst="rect">
            <a:avLst/>
          </a:prstGeom>
          <a:solidFill>
            <a:srgbClr val="1C1917"/>
          </a:solidFill>
          <a:ln w="6350">
            <a:solidFill>
              <a:srgbClr val="4440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5352" y="2103120"/>
            <a:ext cx="2578608" cy="22860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2423160"/>
            <a:ext cx="2029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180+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519672" y="34015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A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partners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19672" y="3767328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15 origins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585216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498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Three ideas that </a:t>
            </a:r>
            <a:pPr indent="0" marL="0">
              <a:lnSpc>
                <a:spcPct val="110000"/>
              </a:lnSpc>
              <a:buNone/>
            </a:pPr>
            <a:r>
              <a:rPr lang="en-US" sz="30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work together.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2542032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38528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FIRST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139696"/>
            <a:ext cx="301752" cy="9144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042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Human and relational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1993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Century-old tradition of real people doing business with real people. Independent jewellers, family businesses, trusted suppliers.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00984" y="1645920"/>
            <a:ext cx="2542032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75304" y="1938528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SECOND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575304" y="2139696"/>
            <a:ext cx="301752" cy="9144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23042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Luxury marketplace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75304" y="2999232"/>
            <a:ext cx="1993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High-end products deserve high-end presentation. Diamonds, fine jewellery, certified stones. Restrained, generous, confident.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99048" y="1645920"/>
            <a:ext cx="2542032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73368" y="1938528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THIRD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373368" y="2139696"/>
            <a:ext cx="301752" cy="9144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23042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Fintech backbone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73368" y="2999232"/>
            <a:ext cx="1993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serious credit business underpins the platform. Trust, reliability, financial infrastructure. Data presented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585216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498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Table heading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3200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AFA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Column heading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A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AFA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Column heading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A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AFA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Column heading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A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AFA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Column heading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A0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C0A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Row data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ROADMAP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585216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Where we are and </a:t>
            </a:r>
            <a:pPr indent="0" marL="0">
              <a:lnSpc>
                <a:spcPct val="110000"/>
              </a:lnSpc>
              <a:buNone/>
            </a:pPr>
            <a:r>
              <a:rPr lang="en-US" sz="28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where we're going.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2827325"/>
            <a:ext cx="7589520" cy="1463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734056"/>
            <a:ext cx="201168" cy="201168"/>
          </a:xfrm>
          <a:prstGeom prst="ellipse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7706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launch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2450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 2025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74036" y="2734056"/>
            <a:ext cx="201168" cy="201168"/>
          </a:xfrm>
          <a:prstGeom prst="ellipse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10612" y="27706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97380" y="31089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 expansion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97380" y="3520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Q3 2025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471416" y="2734056"/>
            <a:ext cx="201168" cy="201168"/>
          </a:xfrm>
          <a:prstGeom prst="ellipse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07992" y="27706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Series B close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94760" y="2450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 2026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68796" y="2734056"/>
            <a:ext cx="201168" cy="201168"/>
          </a:xfrm>
          <a:prstGeom prst="ellipse">
            <a:avLst/>
          </a:prstGeom>
          <a:solidFill>
            <a:srgbClr val="D6D3D1"/>
          </a:solidFill>
          <a:ln w="12700">
            <a:solidFill>
              <a:srgbClr val="A8A2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2140" y="31089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Asia-Pacific entry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92140" y="35204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Q3 2026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66176" y="2734056"/>
            <a:ext cx="201168" cy="201168"/>
          </a:xfrm>
          <a:prstGeom prst="ellipse">
            <a:avLst/>
          </a:prstGeom>
          <a:solidFill>
            <a:srgbClr val="D6D3D1"/>
          </a:solidFill>
          <a:ln w="12700">
            <a:solidFill>
              <a:srgbClr val="A8A2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0" y="2011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IPO readiness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589520" y="2450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Q1 2027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7871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TEAM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585216"/>
            <a:ext cx="914400" cy="10973"/>
          </a:xfrm>
          <a:prstGeom prst="rect">
            <a:avLst/>
          </a:prstGeom>
          <a:solidFill>
            <a:srgbClr val="6330F5"/>
          </a:solidFill>
          <a:ln w="12700">
            <a:solidFill>
              <a:srgbClr val="6330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498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dirty="0">
                <a:solidFill>
                  <a:srgbClr val="0C0A0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The people </a:t>
            </a:r>
            <a:pPr indent="0" marL="0">
              <a:lnSpc>
                <a:spcPct val="110000"/>
              </a:lnSpc>
              <a:buNone/>
            </a:pPr>
            <a:r>
              <a:rPr lang="en-US" sz="3000" i="1" dirty="0">
                <a:solidFill>
                  <a:srgbClr val="6330F5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behind Nivoda.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65276" y="1627632"/>
            <a:ext cx="1417320" cy="1417320"/>
          </a:xfrm>
          <a:prstGeom prst="ellipse">
            <a:avLst/>
          </a:prstGeom>
          <a:solidFill>
            <a:srgbClr val="E7E5E4"/>
          </a:solidFill>
          <a:ln w="6350">
            <a:solidFill>
              <a:srgbClr val="D6D3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5276" y="22265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Last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547872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Co-founder &amp; CEO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2920" y="385876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 or expertise. One or two sentences.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63340" y="1627632"/>
            <a:ext cx="1417320" cy="1417320"/>
          </a:xfrm>
          <a:prstGeom prst="ellipse">
            <a:avLst/>
          </a:prstGeom>
          <a:solidFill>
            <a:srgbClr val="E7E5E4"/>
          </a:solidFill>
          <a:ln w="6350">
            <a:solidFill>
              <a:srgbClr val="D6D3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63340" y="22265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00984" y="320040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Last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00984" y="3547872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Co-founder &amp; CTO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00984" y="385876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 or expertise. One or two sentences.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61404" y="1627632"/>
            <a:ext cx="1417320" cy="1417320"/>
          </a:xfrm>
          <a:prstGeom prst="ellipse">
            <a:avLst/>
          </a:prstGeom>
          <a:solidFill>
            <a:srgbClr val="E7E5E4"/>
          </a:solidFill>
          <a:ln w="6350">
            <a:solidFill>
              <a:srgbClr val="D6D3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61404" y="22265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Photo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99048" y="3200400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0A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Last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99048" y="3547872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80" kern="0" dirty="0">
                <a:solidFill>
                  <a:srgbClr val="6330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Chief Revenue Officer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99048" y="3858768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 or expertise. One or two sentences.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youthful-albattani/mnt/brand-system/assets/logos/wordmark-whit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502920"/>
            <a:ext cx="1828800" cy="301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173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Thank you. Let's build something </a:t>
            </a:r>
            <a:pPr algn="ctr"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7655FD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together.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502920" y="3383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contact@nivoda.com  ·  nivoda.com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77316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4440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NIVODA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A8A29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APPENDIX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2029968"/>
            <a:ext cx="914400" cy="10973"/>
          </a:xfrm>
          <a:prstGeom prst="rect">
            <a:avLst/>
          </a:prstGeom>
          <a:solidFill>
            <a:srgbClr val="9886FF"/>
          </a:solidFill>
          <a:ln w="12700">
            <a:solidFill>
              <a:srgbClr val="988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194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AFAF9"/>
                </a:solidFill>
                <a:latin typeface="Nanum Myeongjo" pitchFamily="34" charset="0"/>
                <a:ea typeface="Nanum Myeongjo" pitchFamily="34" charset="-122"/>
                <a:cs typeface="Nanum Myeongjo" pitchFamily="34" charset="-120"/>
              </a:rPr>
              <a:t>Supporting materials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2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Additional data, methodology, and reference material.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Nivoda Brand Presentation Template</dc:title>
  <dc:subject>PptxGenJS Presentation</dc:subject>
  <dc:creator>Nivoda Design</dc:creator>
  <cp:lastModifiedBy>Nivoda Design</cp:lastModifiedBy>
  <cp:revision>1</cp:revision>
  <dcterms:created xsi:type="dcterms:W3CDTF">2026-05-07T18:14:36Z</dcterms:created>
  <dcterms:modified xsi:type="dcterms:W3CDTF">2026-05-07T18:14:36Z</dcterms:modified>
</cp:coreProperties>
</file>