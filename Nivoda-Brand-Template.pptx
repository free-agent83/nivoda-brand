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5F0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Category 1</c:v>
                  </c:pt>
                  <c:pt idx="1">
                    <c:v>Category 2</c:v>
                  </c:pt>
                  <c:pt idx="2">
                    <c:v>Category 3</c:v>
                  </c:pt>
                  <c:pt idx="3">
                    <c:v>Category 4</c:v>
                  </c:pt>
                  <c:pt idx="4">
                    <c:v>Category 5</c:v>
                  </c:pt>
                  <c:pt idx="5">
                    <c:v>Category 6</c:v>
                  </c:pt>
                  <c:pt idx="6">
                    <c:v>Category 7</c:v>
                  </c:pt>
                  <c:pt idx="7">
                    <c:v>Category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100</c:v>
                </c:pt>
                <c:pt idx="2">
                  <c:v>120</c:v>
                </c:pt>
                <c:pt idx="3">
                  <c:v>130</c:v>
                </c:pt>
                <c:pt idx="4">
                  <c:v>0</c:v>
                </c:pt>
                <c:pt idx="5">
                  <c:v>70</c:v>
                </c:pt>
                <c:pt idx="6">
                  <c:v>70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6330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Category 1</c:v>
                  </c:pt>
                  <c:pt idx="1">
                    <c:v>Category 2</c:v>
                  </c:pt>
                  <c:pt idx="2">
                    <c:v>Category 3</c:v>
                  </c:pt>
                  <c:pt idx="3">
                    <c:v>Category 4</c:v>
                  </c:pt>
                  <c:pt idx="4">
                    <c:v>Category 5</c:v>
                  </c:pt>
                  <c:pt idx="5">
                    <c:v>Category 6</c:v>
                  </c:pt>
                  <c:pt idx="6">
                    <c:v>Category 7</c:v>
                  </c:pt>
                  <c:pt idx="7">
                    <c:v>Category 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20</c:v>
                </c:pt>
                <c:pt idx="2">
                  <c:v>50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70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988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Category 1</c:v>
                  </c:pt>
                  <c:pt idx="1">
                    <c:v>Category 2</c:v>
                  </c:pt>
                  <c:pt idx="2">
                    <c:v>Category 3</c:v>
                  </c:pt>
                  <c:pt idx="3">
                    <c:v>Category 4</c:v>
                  </c:pt>
                  <c:pt idx="4">
                    <c:v>Category 5</c:v>
                  </c:pt>
                  <c:pt idx="5">
                    <c:v>Category 6</c:v>
                  </c:pt>
                  <c:pt idx="6">
                    <c:v>Category 7</c:v>
                  </c:pt>
                  <c:pt idx="7">
                    <c:v>Category 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0</c:v>
                </c:pt>
                <c:pt idx="5">
                  <c:v>60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65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Category 1</c:v>
                  </c:pt>
                  <c:pt idx="1">
                    <c:v>Category 2</c:v>
                  </c:pt>
                  <c:pt idx="2">
                    <c:v>Category 3</c:v>
                  </c:pt>
                  <c:pt idx="3">
                    <c:v>Category 4</c:v>
                  </c:pt>
                  <c:pt idx="4">
                    <c:v>Category 5</c:v>
                  </c:pt>
                  <c:pt idx="5">
                    <c:v>Category 6</c:v>
                  </c:pt>
                  <c:pt idx="6">
                    <c:v>Category 7</c:v>
                  </c:pt>
                  <c:pt idx="7">
                    <c:v>Category 8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130</c:v>
                </c:pt>
                <c:pt idx="5">
                  <c:v>0</c:v>
                </c:pt>
                <c:pt idx="6">
                  <c:v>0</c:v>
                </c:pt>
                <c:pt idx="7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8716C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5F0E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850">
              <a:solidFill>
                <a:srgbClr val="78716C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30F5"/>
              </a:solidFill>
              <a:effectLst/>
            </c:spPr>
          </c:dPt>
          <c:dPt>
            <c:idx val="1"/>
            <c:bubble3D val="0"/>
            <c:spPr>
              <a:solidFill>
                <a:srgbClr val="7655FD"/>
              </a:solidFill>
              <a:effectLst/>
            </c:spPr>
          </c:dPt>
          <c:dPt>
            <c:idx val="2"/>
            <c:bubble3D val="0"/>
            <c:spPr>
              <a:solidFill>
                <a:srgbClr val="9886FF"/>
              </a:solidFill>
              <a:effectLst/>
            </c:spPr>
          </c:dPt>
          <c:dPt>
            <c:idx val="3"/>
            <c:bubble3D val="0"/>
            <c:spPr>
              <a:solidFill>
                <a:srgbClr val="B5AD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JetBrains Mon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JetBrains Mon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JetBrains Mon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JetBrains Mon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Segment A</c:v>
                </c:pt>
                <c:pt idx="1">
                  <c:v>Segment B</c:v>
                </c:pt>
                <c:pt idx="2">
                  <c:v>Segment C</c:v>
                </c:pt>
                <c:pt idx="3">
                  <c:v>Segment 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firstSliceAng val="0"/>
        <c:holeSize val="52"/>
      </c:doughnutChart>
      <c:spPr>
        <a:noFill/>
        <a:ln w="12700" cap="flat">
          <a:solidFill>
            <a:srgbClr val="F5F0EC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8716C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330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4</c:v>
                  </c:pt>
                  <c:pt idx="1">
                    <c:v>Category 3</c:v>
                  </c:pt>
                  <c:pt idx="2">
                    <c:v>Category 2</c:v>
                  </c:pt>
                  <c:pt idx="3">
                    <c:v>Category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2.5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65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4</c:v>
                  </c:pt>
                  <c:pt idx="1">
                    <c:v>Category 3</c:v>
                  </c:pt>
                  <c:pt idx="2">
                    <c:v>Category 2</c:v>
                  </c:pt>
                  <c:pt idx="3">
                    <c:v>Category 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1.8</c:v>
                </c:pt>
                <c:pt idx="2">
                  <c:v>4.4</c:v>
                </c:pt>
                <c:pt idx="3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88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4</c:v>
                  </c:pt>
                  <c:pt idx="1">
                    <c:v>Category 3</c:v>
                  </c:pt>
                  <c:pt idx="2">
                    <c:v>Category 2</c:v>
                  </c:pt>
                  <c:pt idx="3">
                    <c:v>Category 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JetBrains Mono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8716C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5F0E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78716C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330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4</c:v>
                  </c:pt>
                  <c:pt idx="1">
                    <c:v>Category 3</c:v>
                  </c:pt>
                  <c:pt idx="2">
                    <c:v>Category 2</c:v>
                  </c:pt>
                  <c:pt idx="3">
                    <c:v>Category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2.5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65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4</c:v>
                  </c:pt>
                  <c:pt idx="1">
                    <c:v>Category 3</c:v>
                  </c:pt>
                  <c:pt idx="2">
                    <c:v>Category 2</c:v>
                  </c:pt>
                  <c:pt idx="3">
                    <c:v>Category 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1.8</c:v>
                </c:pt>
                <c:pt idx="2">
                  <c:v>4.4</c:v>
                </c:pt>
                <c:pt idx="3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88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4</c:v>
                  </c:pt>
                  <c:pt idx="1">
                    <c:v>Category 3</c:v>
                  </c:pt>
                  <c:pt idx="2">
                    <c:v>Category 2</c:v>
                  </c:pt>
                  <c:pt idx="3">
                    <c:v>Category 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JetBrains Mon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8716C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5F0E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78716C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youthful-albattani/mnt/brand-system/assets/logos/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08760" cy="248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17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 TITLE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02920" y="1618488"/>
            <a:ext cx="914400" cy="4572"/>
          </a:xfrm>
          <a:prstGeom prst="rect">
            <a:avLst/>
          </a:prstGeom>
          <a:solidFill>
            <a:srgbClr val="9886FF"/>
          </a:solidFill>
          <a:ln w="12700">
            <a:solidFill>
              <a:srgbClr val="9886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755648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AFA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global marketplace for diamonds and </a:t>
            </a:r>
            <a:pPr indent="0" marL="0">
              <a:lnSpc>
                <a:spcPct val="115000"/>
              </a:lnSpc>
              <a:buNone/>
            </a:pPr>
            <a:r>
              <a:rPr lang="en-US" sz="3800" i="1" dirty="0">
                <a:solidFill>
                  <a:srgbClr val="7655F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jewellery.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presenter name · Month Year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0" y="4773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444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NIVODA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sessions/sleepy-youthful-albattani/mnt/brand-system/assets/logos/wordmark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508760" cy="2489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17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 TITLE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02920" y="1618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755648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Building the future of diamond </a:t>
            </a:r>
            <a:pPr indent="0" marL="0">
              <a:lnSpc>
                <a:spcPct val="115000"/>
              </a:lnSpc>
              <a:buNone/>
            </a:pPr>
            <a:r>
              <a:rPr lang="en-US" sz="38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trade.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presenter name · Month Year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246202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 / Image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18288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dirty="0">
                <a:solidFill>
                  <a:srgbClr val="2925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SECTION NAME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914400" cy="4572"/>
          </a:xfrm>
          <a:prstGeom prst="rect">
            <a:avLst/>
          </a:prstGeom>
          <a:solidFill>
            <a:srgbClr val="9886FF"/>
          </a:solidFill>
          <a:ln w="12700">
            <a:solidFill>
              <a:srgbClr val="988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AFA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This section covers </a:t>
            </a:r>
            <a:pPr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7655F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key ideas.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sentence describing what this section covers.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FAFA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 single idea, stated with </a:t>
            </a:r>
            <a:pPr algn="ctr" indent="0" marL="0">
              <a:lnSpc>
                <a:spcPct val="110000"/>
              </a:lnSpc>
              <a:buNone/>
            </a:pPr>
            <a:r>
              <a:rPr lang="en-US" sz="5200" i="1" dirty="0">
                <a:solidFill>
                  <a:srgbClr val="7655F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conviction.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44348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753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or context · Year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7040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 heading that frames </a:t>
            </a:r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context.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at presentation scale. Inter, 15pt, stone-600. Explain the idea in two or three clear sentences. Let the image carry the emotion.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343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Supporting detail or source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54880" y="0"/>
            <a:ext cx="3886200" cy="5143500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46202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 / Image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46202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 / Image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54880" y="5029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0" y="7040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86868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story </a:t>
            </a:r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behind the image.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286000"/>
            <a:ext cx="3886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at presentation scale. Use this layout when the image anchors the narrative on the left and the argument builds on the right.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3434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Supporting detail or source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 narrative slide for extended argument or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lede paragraph — Inter, 16pt, stone-600, line-height 1.5. It opens the section with the key idea before the body text develops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8138160" cy="9144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87168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column body text. Use this for extended narrative copy, supporting argument, or key context. Inter, 14pt, stone-600. Two or three short paragraphs work well here.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3440" y="2487168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column body text. A second supporting point or elaboration. Keep each column to a single idea — if it needs more, split across slides.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 THE NUMBERS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914400" cy="4572"/>
          </a:xfrm>
          <a:prstGeom prst="rect">
            <a:avLst/>
          </a:prstGeom>
          <a:solidFill>
            <a:srgbClr val="9886FF"/>
          </a:solidFill>
          <a:ln w="12700">
            <a:solidFill>
              <a:srgbClr val="988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AFA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scale of </a:t>
            </a:r>
            <a:pPr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7655F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platform.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578608" cy="2331720"/>
          </a:xfrm>
          <a:prstGeom prst="rect">
            <a:avLst/>
          </a:prstGeom>
          <a:solidFill>
            <a:srgbClr val="1C1917"/>
          </a:solidFill>
          <a:ln w="6350">
            <a:solidFill>
              <a:srgbClr val="444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AFA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24K+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34015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buyers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76732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100+ countries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2103120"/>
            <a:ext cx="2578608" cy="2331720"/>
          </a:xfrm>
          <a:prstGeom prst="rect">
            <a:avLst/>
          </a:prstGeom>
          <a:solidFill>
            <a:srgbClr val="1C1917"/>
          </a:solidFill>
          <a:ln w="6350">
            <a:solidFill>
              <a:srgbClr val="444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24231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AFA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$2.8B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48456" y="34015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GMV (annualised)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48456" y="376732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growing 40% YoY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2103120"/>
            <a:ext cx="2578608" cy="2331720"/>
          </a:xfrm>
          <a:prstGeom prst="rect">
            <a:avLst/>
          </a:prstGeom>
          <a:solidFill>
            <a:srgbClr val="1C1917"/>
          </a:solidFill>
          <a:ln w="6350">
            <a:solidFill>
              <a:srgbClr val="444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4231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AFA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519672" y="34015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partners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19672" y="376732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15 origins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Three ideas that 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work together.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542032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3852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FIRST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139696"/>
            <a:ext cx="301752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042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Human and relational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Century-old tradition of real people doing business with real people. Independent jewellers, family businesses, trusted suppliers.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00984" y="1645920"/>
            <a:ext cx="2542032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5304" y="193852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SECOND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75304" y="2139696"/>
            <a:ext cx="301752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23042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Luxury marketplace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75304" y="2999232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High-end products deserve high-end presentation. Diamonds, fine jewellery, certified stones. Restrained, generous, confident.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9048" y="1645920"/>
            <a:ext cx="2542032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3368" y="193852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THIRD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73368" y="2139696"/>
            <a:ext cx="301752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3042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Fintech backbone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73368" y="2999232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serious credit business underpins the platform. Trust, reliability, financial infrastructure. Data presented cleanly.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Table with a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header row.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52728"/>
                <a:gridCol w="1252728"/>
                <a:gridCol w="124358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890065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365553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841041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316529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3792017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4267505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17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06440" y="1618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76479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Use this space to </a:t>
            </a:r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frame the data.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06440" y="3017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the narrative context that the table cannot. What should the reader conclude? What action does this support?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Table with a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row label column.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74520"/>
                <a:gridCol w="18745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890065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365553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841041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316529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3792017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4267505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17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06440" y="1618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76479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Use this space to </a:t>
            </a:r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frame the data.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06440" y="3017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the narrative context that the table cannot. What should the reader conclude? What action does this support?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Table with headers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and labels.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52728"/>
                <a:gridCol w="1252728"/>
                <a:gridCol w="124358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78716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COLUMN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44403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ROW LABEL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2365553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841041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3316529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792017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4267505"/>
            <a:ext cx="5120640" cy="5486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417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806440" y="1618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76479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Use this space to </a:t>
            </a:r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frame the data.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06440" y="3017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the narrative context that the table cannot. What should the reader conclude? What action does this support?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Where we are and </a:t>
            </a:r>
            <a:pPr indent="0" marL="0">
              <a:lnSpc>
                <a:spcPct val="110000"/>
              </a:lnSpc>
              <a:buNone/>
            </a:pPr>
            <a:r>
              <a:rPr lang="en-US" sz="28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where we're going.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827325"/>
            <a:ext cx="7589520" cy="14630"/>
          </a:xfrm>
          <a:prstGeom prst="rect">
            <a:avLst/>
          </a:prstGeom>
          <a:solidFill>
            <a:srgbClr val="D6D3D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7706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A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launch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450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80" kern="0" dirty="0">
                <a:solidFill>
                  <a:srgbClr val="6330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74036" y="2734056"/>
            <a:ext cx="201168" cy="201168"/>
          </a:xfrm>
          <a:prstGeom prst="ellipse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0612" y="27706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73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A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expansion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97380" y="3520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80" kern="0" dirty="0">
                <a:solidFill>
                  <a:srgbClr val="6330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71416" y="2734056"/>
            <a:ext cx="201168" cy="201168"/>
          </a:xfrm>
          <a:prstGeom prst="ellipse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27706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A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close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2450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80" kern="0" dirty="0">
                <a:solidFill>
                  <a:srgbClr val="6330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68796" y="2734056"/>
            <a:ext cx="201168" cy="201168"/>
          </a:xfrm>
          <a:prstGeom prst="ellipse">
            <a:avLst/>
          </a:prstGeom>
          <a:solidFill>
            <a:srgbClr val="D6D3D1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214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Asia-Pacific entry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92140" y="3520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8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66176" y="2734056"/>
            <a:ext cx="201168" cy="201168"/>
          </a:xfrm>
          <a:prstGeom prst="ellipse">
            <a:avLst/>
          </a:prstGeom>
          <a:solidFill>
            <a:srgbClr val="D6D3D1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IPO readiness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2450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8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TEAM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585216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The people 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behind Nivoda.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5276" y="1627632"/>
            <a:ext cx="1417320" cy="1417320"/>
          </a:xfrm>
          <a:prstGeom prst="ellipse">
            <a:avLst/>
          </a:prstGeom>
          <a:solidFill>
            <a:srgbClr val="E7E5E4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" y="22265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C0A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Last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4787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CO-FOUNDER &amp; CEO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385876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or expertise. One or two sentences.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63340" y="1627632"/>
            <a:ext cx="1417320" cy="1417320"/>
          </a:xfrm>
          <a:prstGeom prst="ellipse">
            <a:avLst/>
          </a:prstGeom>
          <a:solidFill>
            <a:srgbClr val="E7E5E4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340" y="22265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00984" y="32004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C0A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Last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00984" y="354787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CO-FOUNDER &amp; CTO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00984" y="385876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or expertise. One or two sentences.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61404" y="1627632"/>
            <a:ext cx="1417320" cy="1417320"/>
          </a:xfrm>
          <a:prstGeom prst="ellipse">
            <a:avLst/>
          </a:prstGeom>
          <a:solidFill>
            <a:srgbClr val="E7E5E4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1404" y="22265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99048" y="32004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C0A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Last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9048" y="354787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CHIEF REVENUE OFFICER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9048" y="385876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or expertise. One or two sentences.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youthful-albattani/mnt/brand-system/assets/logos/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502920"/>
            <a:ext cx="1828800" cy="301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173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AFA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Thank you. Let's build something </a:t>
            </a:r>
            <a:pPr algn="ctr"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7655F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together.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contact@nivoda.com  ·  nivoda.com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7731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444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NIVODA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8A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2029968"/>
            <a:ext cx="914400" cy="4572"/>
          </a:xfrm>
          <a:prstGeom prst="rect">
            <a:avLst/>
          </a:prstGeom>
          <a:solidFill>
            <a:srgbClr val="9886FF"/>
          </a:solidFill>
          <a:ln w="12700">
            <a:solidFill>
              <a:srgbClr val="988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Supporting materials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data, methodology, and reference material.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Revenue bridge ·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period over period.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234440"/>
          <a:ext cx="8138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Portfolio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breakdown.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0" y="10972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4572"/>
          </a:xfrm>
          <a:prstGeom prst="rect">
            <a:avLst/>
          </a:prstGeom>
          <a:solidFill>
            <a:srgbClr val="6330F5"/>
          </a:solidFill>
          <a:ln w="12700">
            <a:solidFill>
              <a:srgbClr val="6330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C0A0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Performance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6330F5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by category.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67428" y="1234440"/>
            <a:ext cx="9144" cy="3566160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CLUSTERED BAR CHART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472184"/>
            <a:ext cx="3840480" cy="4572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871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STACKED BAR CHART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472184"/>
            <a:ext cx="4114800" cy="4572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502920" y="1554480"/>
          <a:ext cx="3931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4754880" y="1554480"/>
          <a:ext cx="4160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Nivoda Brand Presentation Template</dc:title>
  <dc:subject>PptxGenJS Presentation</dc:subject>
  <dc:creator>Nivoda Design</dc:creator>
  <cp:lastModifiedBy>Nivoda Design</cp:lastModifiedBy>
  <cp:revision>1</cp:revision>
  <dcterms:created xsi:type="dcterms:W3CDTF">2026-05-08T18:27:56Z</dcterms:created>
  <dcterms:modified xsi:type="dcterms:W3CDTF">2026-05-08T18:27:56Z</dcterms:modified>
</cp:coreProperties>
</file>